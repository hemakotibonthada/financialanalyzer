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A78BFA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457200"/>
            <a:ext cx="2286000" cy="2286000"/>
          </a:xfrm>
          <a:prstGeom prst="ellipse">
            <a:avLst/>
          </a:prstGeom>
          <a:solidFill>
            <a:srgbClr val="1016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114800"/>
            <a:ext cx="2743200" cy="2743200"/>
          </a:xfrm>
          <a:prstGeom prst="ellipse">
            <a:avLst/>
          </a:prstGeom>
          <a:solidFill>
            <a:srgbClr val="12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5029200"/>
            <a:ext cx="1828800" cy="1828800"/>
          </a:xfrm>
          <a:prstGeom prst="ellipse">
            <a:avLst/>
          </a:prstGeom>
          <a:solidFill>
            <a:srgbClr val="0E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256032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  CIRCUVENT TECHNOLOGIES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800" b="1">
                <a:solidFill>
                  <a:srgbClr val="FFFFFF"/>
                </a:solidFill>
                <a:latin typeface="Segoe UI"/>
              </a:defRPr>
            </a:pPr>
            <a:r>
              <a:t>FinancialAnalyzer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Segoe UI"/>
              </a:defRPr>
            </a:pPr>
            <a:r>
              <a:t>AI-Powered Enterprise Financial Management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100% Local ML  •  Indian Market Focus  •  Zero External API Dependencies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1691640" cy="11887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5047488"/>
            <a:ext cx="141732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21208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  <a:latin typeface="Segoe UI"/>
              </a:defRPr>
            </a:pPr>
            <a:r>
              <a:t>640+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150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Source Files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06039" y="4937760"/>
            <a:ext cx="1691640" cy="11887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199" y="5047488"/>
            <a:ext cx="1417320" cy="320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6039" y="521208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Segoe UI"/>
              </a:defRPr>
            </a:pPr>
            <a:r>
              <a:t>150+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39" y="57150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Features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59" y="4937760"/>
            <a:ext cx="1691640" cy="11887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17719" y="5047488"/>
            <a:ext cx="1417320" cy="320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521208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78BFA"/>
                </a:solidFill>
                <a:latin typeface="Segoe UI"/>
              </a:defRPr>
            </a:pPr>
            <a:r>
              <a:t>300+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57150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API Endpoints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79" y="4937760"/>
            <a:ext cx="1691640" cy="11887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39" y="5047488"/>
            <a:ext cx="1417320" cy="3200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79" y="521208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BBF24"/>
                </a:solidFill>
                <a:latin typeface="Segoe UI"/>
              </a:defRPr>
            </a:pPr>
            <a:r>
              <a:t>33,000+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79" y="57150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Lines of AI Code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4937760"/>
            <a:ext cx="1691640" cy="11887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66760" y="5047488"/>
            <a:ext cx="1417320" cy="320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521208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D4BF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7150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ML Modules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04120" y="4937760"/>
            <a:ext cx="1691640" cy="11887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241280" y="5047488"/>
            <a:ext cx="1417320" cy="3200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04120" y="521208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87171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57150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External APIs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Version 2.0.0  |  March 2026  |  Business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38BDF8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57200" cy="32004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Segoe UI"/>
              </a:defRPr>
            </a:pPr>
            <a: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Why FinancialAnalyzer?</a:t>
            </a:r>
          </a:p>
        </p:txBody>
      </p:sp>
      <p:sp>
        <p:nvSpPr>
          <p:cNvPr id="7" name="Oval 6"/>
          <p:cNvSpPr/>
          <p:nvPr/>
        </p:nvSpPr>
        <p:spPr>
          <a:xfrm>
            <a:off x="10515600" y="274320"/>
            <a:ext cx="914400" cy="914400"/>
          </a:xfrm>
          <a:prstGeom prst="ellipse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47472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45720" cy="192024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011680"/>
            <a:ext cx="411480" cy="41148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9933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Manual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2860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Spreadsheets and notebooks can't scale. Users lose</a:t>
            </a:r>
            <a:br/>
            <a:r>
              <a:t>hours tracking expenses, EMIs, and investments manually.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828800"/>
            <a:ext cx="347472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59" y="1828800"/>
            <a:ext cx="45720" cy="19202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63439" y="2011680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9" y="19933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Data Privacy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9" y="22860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Cloud-based AI tools send all your financial data</a:t>
            </a:r>
            <a:br/>
            <a:r>
              <a:t>to external servers. FinancialAnalyzer keeps it 100% local.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828800"/>
            <a:ext cx="347472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828800"/>
            <a:ext cx="45720" cy="19202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12480" y="2011680"/>
            <a:ext cx="411480" cy="41148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19933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Fragmented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2860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Separate apps for budgets, investments, taxes, and</a:t>
            </a:r>
            <a:br/>
            <a:r>
              <a:t>debt. One platform unifies everything.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14800"/>
            <a:ext cx="347472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114800"/>
            <a:ext cx="45720" cy="19202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4297680"/>
            <a:ext cx="411480" cy="4114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2793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No 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5720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Most finance apps just record numbers. They don't</a:t>
            </a:r>
            <a:br/>
            <a:r>
              <a:t>predict, optimize, or detect anomalies.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59" y="4114800"/>
            <a:ext cx="347472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59" y="4114800"/>
            <a:ext cx="45720" cy="1920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63439" y="429768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79" y="42793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Not India-Ready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45720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Most fintech tools target US markets. We support</a:t>
            </a:r>
            <a:br/>
            <a:r>
              <a:t>INR, CIBIL, Indian tax rules, UPI, NPS, PPF, ELSS.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4114800"/>
            <a:ext cx="347472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4114800"/>
            <a:ext cx="45720" cy="19202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297680"/>
            <a:ext cx="411480" cy="41148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42793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Expensive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45720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GPT/Claude API costs add up. Our 38 ML modules</a:t>
            </a:r>
            <a:br/>
            <a:r>
              <a:t>run entirely on your server — zero API fees.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38BDF8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57200" cy="32004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PLATFORM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Full-Stack Architecture</a:t>
            </a:r>
          </a:p>
        </p:txBody>
      </p:sp>
      <p:sp>
        <p:nvSpPr>
          <p:cNvPr id="7" name="Oval 6"/>
          <p:cNvSpPr/>
          <p:nvPr/>
        </p:nvSpPr>
        <p:spPr>
          <a:xfrm>
            <a:off x="10515600" y="274320"/>
            <a:ext cx="914400" cy="914400"/>
          </a:xfrm>
          <a:prstGeom prst="ellipse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6858000" cy="10058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54864" cy="10058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201168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Segoe UI"/>
              </a:defRPr>
            </a:pPr>
            <a:r>
              <a:t>React 18 + Vite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148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SPA with 146 pages, MUI 7, Tailwind CSS</a:t>
            </a:r>
            <a:br/>
            <a:r>
              <a:t>3-mode theme (Light / Dark / AMOLED)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2743200"/>
            <a:ext cx="18288" cy="1371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6858000" cy="10058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880360"/>
            <a:ext cx="54864" cy="1005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31546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971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Segoe UI"/>
              </a:defRPr>
            </a:pPr>
            <a:r>
              <a:t>Express.js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291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70+ route groups, 300+ endpoints</a:t>
            </a:r>
            <a:br/>
            <a:r>
              <a:t>WebSocket real-time, Enterprise middleware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34440" y="3886200"/>
            <a:ext cx="18288" cy="1371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4023360"/>
            <a:ext cx="6858000" cy="10058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023360"/>
            <a:ext cx="54864" cy="10058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" y="4297680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114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  <a:latin typeface="Segoe UI"/>
              </a:defRPr>
            </a:pPr>
            <a:r>
              <a:t>AI/ML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434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38 modules, 33K lines, Neural Nets</a:t>
            </a:r>
            <a:br/>
            <a:r>
              <a:t>RL, NLP, Anomaly Detection — all from scratch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34440" y="5029200"/>
            <a:ext cx="18288" cy="1371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" y="5166360"/>
            <a:ext cx="6858000" cy="10058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166360"/>
            <a:ext cx="54864" cy="10058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5840" y="5440680"/>
            <a:ext cx="457200" cy="45720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257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BBF24"/>
                </a:solidFill>
                <a:latin typeface="Segoe UI"/>
              </a:defRPr>
            </a:pPr>
            <a:r>
              <a:t>MongoDB + Redis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577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47 models, per-user ML persistence</a:t>
            </a:r>
            <a:br/>
            <a:r>
              <a:t>TTL indexes, file-based model storage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1737360"/>
            <a:ext cx="3200400" cy="457200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1737360"/>
            <a:ext cx="320040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1920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Key Metrics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23774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89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Backend Route Files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28529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128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28529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Service Modules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332841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33284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Database Models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380390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146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38039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Frontend Pages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42793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4279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UI Components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47548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4754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React Contexts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523036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52303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Middleware Layers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570585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25+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57058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ML Algorithms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38BDF8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57200" cy="32004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CORE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Dashboards &amp; Financial Health</a:t>
            </a:r>
          </a:p>
        </p:txBody>
      </p:sp>
      <p:sp>
        <p:nvSpPr>
          <p:cNvPr id="7" name="Oval 6"/>
          <p:cNvSpPr/>
          <p:nvPr/>
        </p:nvSpPr>
        <p:spPr>
          <a:xfrm>
            <a:off x="10515600" y="274320"/>
            <a:ext cx="914400" cy="914400"/>
          </a:xfrm>
          <a:prstGeom prst="ellipse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474720" cy="23774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347472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965960"/>
            <a:ext cx="1097280" cy="27432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65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B0F1A"/>
                </a:solidFill>
                <a:latin typeface="Segoe UI"/>
              </a:defRPr>
            </a:pPr>
            <a:r>
              <a:t>Functional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31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Dashboard V1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974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income/expense summary, recent</a:t>
            </a:r>
            <a:br/>
            <a:r>
              <a:t>transactions, budget progress,</a:t>
            </a:r>
            <a:br/>
            <a:r>
              <a:t>monthly trends chart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1828800"/>
            <a:ext cx="3474720" cy="23774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59" y="1828800"/>
            <a:ext cx="3474720" cy="320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17719" y="1965960"/>
            <a:ext cx="109728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19" y="1965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B0F1A"/>
                </a:solidFill>
                <a:latin typeface="Segoe UI"/>
              </a:defRPr>
            </a:pPr>
            <a:r>
              <a:t>Enhanced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39" y="2331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Dashboard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39" y="26974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Animated KPIs, spending trend</a:t>
            </a:r>
            <a:br/>
            <a:r>
              <a:t>charts, category intelligence,</a:t>
            </a:r>
            <a:br/>
            <a:r>
              <a:t>AI predictions panel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828800"/>
            <a:ext cx="3474720" cy="23774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828800"/>
            <a:ext cx="3474720" cy="320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66760" y="1965960"/>
            <a:ext cx="1097280" cy="274320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1965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B0F1A"/>
                </a:solidFill>
                <a:latin typeface="Segoe UI"/>
              </a:defRPr>
            </a:pPr>
            <a:r>
              <a:t>Enterprise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331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Dashboard V3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6974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Enterprise-grade, real-time</a:t>
            </a:r>
            <a:br/>
            <a:r>
              <a:t>metrics, department analytics,</a:t>
            </a:r>
            <a:br/>
            <a:r>
              <a:t>AI-powered forecasts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572000"/>
            <a:ext cx="10698480" cy="182880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572000"/>
            <a:ext cx="10698480" cy="320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97280" y="4846320"/>
            <a:ext cx="1280160" cy="1280160"/>
          </a:xfrm>
          <a:prstGeom prst="ellipse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02920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Segoe UI"/>
              </a:defRPr>
            </a:pPr>
            <a:r>
              <a:t>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577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754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Financial Health 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51206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0-100 composite score across savings rate,</a:t>
            </a:r>
            <a:br/>
            <a:r>
              <a:t>debt-to-income ratio, emergency fund coverage,</a:t>
            </a:r>
            <a:br/>
            <a:r>
              <a:t>insurance adequacy, and investment diversification.</a:t>
            </a:r>
            <a:br/>
            <a:r>
              <a:t>3 versions: V1 → V2 → Enterprise V3</a:t>
            </a:r>
          </a:p>
        </p:txBody>
      </p:sp>
      <p:sp>
        <p:nvSpPr>
          <p:cNvPr id="33" name="Oval 32"/>
          <p:cNvSpPr/>
          <p:nvPr/>
        </p:nvSpPr>
        <p:spPr>
          <a:xfrm>
            <a:off x="6858000" y="489204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4846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Savings</a:t>
            </a:r>
          </a:p>
        </p:txBody>
      </p:sp>
      <p:sp>
        <p:nvSpPr>
          <p:cNvPr id="35" name="Oval 34"/>
          <p:cNvSpPr/>
          <p:nvPr/>
        </p:nvSpPr>
        <p:spPr>
          <a:xfrm>
            <a:off x="8229600" y="4892040"/>
            <a:ext cx="274320" cy="27432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4846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Debt</a:t>
            </a:r>
          </a:p>
        </p:txBody>
      </p:sp>
      <p:sp>
        <p:nvSpPr>
          <p:cNvPr id="37" name="Oval 36"/>
          <p:cNvSpPr/>
          <p:nvPr/>
        </p:nvSpPr>
        <p:spPr>
          <a:xfrm>
            <a:off x="9601200" y="4892040"/>
            <a:ext cx="274320" cy="27432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4846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Emergency</a:t>
            </a:r>
          </a:p>
        </p:txBody>
      </p:sp>
      <p:sp>
        <p:nvSpPr>
          <p:cNvPr id="39" name="Oval 38"/>
          <p:cNvSpPr/>
          <p:nvPr/>
        </p:nvSpPr>
        <p:spPr>
          <a:xfrm>
            <a:off x="6858000" y="5623560"/>
            <a:ext cx="274320" cy="27432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0" y="55778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Insurance</a:t>
            </a:r>
          </a:p>
        </p:txBody>
      </p:sp>
      <p:sp>
        <p:nvSpPr>
          <p:cNvPr id="41" name="Oval 40"/>
          <p:cNvSpPr/>
          <p:nvPr/>
        </p:nvSpPr>
        <p:spPr>
          <a:xfrm>
            <a:off x="8229600" y="5623560"/>
            <a:ext cx="274320" cy="27432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55778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Investment</a:t>
            </a:r>
          </a:p>
        </p:txBody>
      </p:sp>
      <p:sp>
        <p:nvSpPr>
          <p:cNvPr id="43" name="Oval 42"/>
          <p:cNvSpPr/>
          <p:nvPr/>
        </p:nvSpPr>
        <p:spPr>
          <a:xfrm>
            <a:off x="9601200" y="5623560"/>
            <a:ext cx="274320" cy="2743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6960" y="55778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Goals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38BDF8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57200" cy="32004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TRANSACTIONS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Smart Transaction Management</a:t>
            </a:r>
          </a:p>
        </p:txBody>
      </p:sp>
      <p:sp>
        <p:nvSpPr>
          <p:cNvPr id="7" name="Oval 6"/>
          <p:cNvSpPr/>
          <p:nvPr/>
        </p:nvSpPr>
        <p:spPr>
          <a:xfrm>
            <a:off x="10515600" y="274320"/>
            <a:ext cx="914400" cy="914400"/>
          </a:xfrm>
          <a:prstGeom prst="ellipse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645920" cy="155448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164592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31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Manual 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Quick add via navbar or</a:t>
            </a:r>
            <a:br/>
            <a:r>
              <a:t>dashboard widget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1828800"/>
            <a:ext cx="1645920" cy="155448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0" y="1828800"/>
            <a:ext cx="1645920" cy="320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2011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331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Document Upload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6517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PDF / CSV / image bank</a:t>
            </a:r>
            <a:br/>
            <a:r>
              <a:t>statement parsing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1828800"/>
            <a:ext cx="1645920" cy="155448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1828800"/>
            <a:ext cx="1645920" cy="320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2011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331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Gmail Sync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6517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Auto-extract from bank</a:t>
            </a:r>
            <a:br/>
            <a:r>
              <a:t>alert emails (UPI, NEFT)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657600"/>
            <a:ext cx="1645920" cy="155448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657600"/>
            <a:ext cx="1645920" cy="3200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840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160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Receipt Scanner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4805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Tesseract OCR with</a:t>
            </a:r>
            <a:br/>
            <a:r>
              <a:t>auto-categorization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60320" y="3657600"/>
            <a:ext cx="1645920" cy="155448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60320" y="3657600"/>
            <a:ext cx="1645920" cy="320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0" y="3840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4160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CSV Import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44805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Bulk import with</a:t>
            </a:r>
            <a:br/>
            <a:r>
              <a:t>column mapping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3657600"/>
            <a:ext cx="1645920" cy="155448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89120" y="3657600"/>
            <a:ext cx="1645920" cy="32004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3840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4160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UPI 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44805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Extract VPA, UTR,</a:t>
            </a:r>
            <a:br/>
            <a:r>
              <a:t>app details auto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1828800"/>
            <a:ext cx="4846320" cy="43891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0" y="1828800"/>
            <a:ext cx="4846320" cy="36576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38BDF8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2011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Segoe UI"/>
              </a:defRPr>
            </a:pPr>
            <a:r>
              <a:t>AI Enrichment Pipeline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0" y="2560320"/>
            <a:ext cx="320040" cy="27432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25603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B0F1A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2560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Category Classification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ML model trained on user data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0" y="2999232"/>
            <a:ext cx="32004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299923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B0F1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29992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Merchant Normalization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29992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Standardize merchant names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0" y="3438144"/>
            <a:ext cx="320040" cy="274320"/>
          </a:xfrm>
          <a:prstGeom prst="round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0" y="3438144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B0F1A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0" y="34381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Anomaly Scoring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18320" y="34381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Isolation Forest detection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58000" y="3877056"/>
            <a:ext cx="320040" cy="274320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0" y="387705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B0F1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387705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UPI Metadata Extract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18320" y="38770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VPA, UTR, app details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58000" y="4315968"/>
            <a:ext cx="320040" cy="27432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58000" y="431596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B0F1A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0" y="43159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Recurring Detection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18320" y="43159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Identify subscriptions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858000" y="4754879"/>
            <a:ext cx="320040" cy="274320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58000" y="4754879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B0F1A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0" y="475487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Tax Deductibility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18320" y="47548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Auto-flag tax-saving txns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858000" y="5193792"/>
            <a:ext cx="320040" cy="27432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0" y="519379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B0F1A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0" y="51937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Budget Impact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18320" y="51937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Real-time budget update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858000" y="5632704"/>
            <a:ext cx="320040" cy="274320"/>
          </a:xfrm>
          <a:prstGeom prst="round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58000" y="5632704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B0F1A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15200" y="56327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Alert Triggers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418320" y="56327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Budget warnings, anomalies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38BDF8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57200" cy="32004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BUDGETING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Smart Budget Management &amp; Planning</a:t>
            </a:r>
          </a:p>
        </p:txBody>
      </p:sp>
      <p:sp>
        <p:nvSpPr>
          <p:cNvPr id="7" name="Oval 6"/>
          <p:cNvSpPr/>
          <p:nvPr/>
        </p:nvSpPr>
        <p:spPr>
          <a:xfrm>
            <a:off x="10515600" y="274320"/>
            <a:ext cx="914400" cy="914400"/>
          </a:xfrm>
          <a:prstGeom prst="ellipse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6060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45720" cy="19202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011680"/>
            <a:ext cx="411480" cy="4114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9933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Category Budgets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28600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Monthly/weekly/yearly budgets</a:t>
            </a:r>
            <a:br/>
            <a:r>
              <a:t>per expense category with</a:t>
            </a:r>
            <a:br/>
            <a:r>
              <a:t>real-time progress tracking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828800"/>
            <a:ext cx="26060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1828800"/>
            <a:ext cx="45720" cy="1920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49040" y="201168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9933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50/30/20 Auto-Fill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28600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Auto-calculate budgets from</a:t>
            </a:r>
            <a:br/>
            <a:r>
              <a:t>salary: 50% needs, 30% wants,</a:t>
            </a:r>
            <a:br/>
            <a:r>
              <a:t>20% savings/investments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828800"/>
            <a:ext cx="26060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828800"/>
            <a:ext cx="45720" cy="19202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80" y="2011680"/>
            <a:ext cx="411480" cy="41148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9933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AI Optimizer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28600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Reinforcement Learning finds</a:t>
            </a:r>
            <a:br/>
            <a:r>
              <a:t>optimal allocation across</a:t>
            </a:r>
            <a:br/>
            <a:r>
              <a:t>categories for your goals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1828800"/>
            <a:ext cx="26060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1828800"/>
            <a:ext cx="45720" cy="19202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18320" y="2011680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19933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Smart Alerts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228600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Configurable thresholds (80%</a:t>
            </a:r>
            <a:br/>
            <a:r>
              <a:t>default), multi-channel alerts</a:t>
            </a:r>
            <a:br/>
            <a:r>
              <a:t>(push, email, SMS)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114800"/>
            <a:ext cx="26060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4114800"/>
            <a:ext cx="45720" cy="19202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" y="4297680"/>
            <a:ext cx="411480" cy="41148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2793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Budget Rollover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57200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Carry forward unused budget</a:t>
            </a:r>
            <a:br/>
            <a:r>
              <a:t>to next period automatically</a:t>
            </a:r>
            <a:br/>
            <a:r>
              <a:t>with rollover tracking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66160" y="4114800"/>
            <a:ext cx="26060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66160" y="4114800"/>
            <a:ext cx="45720" cy="192024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49040" y="4297680"/>
            <a:ext cx="411480" cy="41148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2793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Financial Calendar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457200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Calendar view of all upcoming</a:t>
            </a:r>
            <a:br/>
            <a:r>
              <a:t>bills, EMIs, subscriptions,</a:t>
            </a:r>
            <a:br/>
            <a:r>
              <a:t>and financial events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114800"/>
            <a:ext cx="26060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4114800"/>
            <a:ext cx="45720" cy="19202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83680" y="4297680"/>
            <a:ext cx="411480" cy="4114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42793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Smart Wizard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457200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Step-by-step guided budget</a:t>
            </a:r>
            <a:br/>
            <a:r>
              <a:t>creation with AI suggestions</a:t>
            </a:r>
            <a:br/>
            <a:r>
              <a:t>based on spending patterns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35440" y="4114800"/>
            <a:ext cx="26060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35440" y="4114800"/>
            <a:ext cx="45720" cy="192024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418320" y="4297680"/>
            <a:ext cx="411480" cy="411480"/>
          </a:xfrm>
          <a:prstGeom prst="ellipse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66960" y="42793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Budget Intelligence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6960" y="457200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Enterprise V3 ML-driven</a:t>
            </a:r>
            <a:br/>
            <a:r>
              <a:t>budget recommendations,</a:t>
            </a:r>
            <a:br/>
            <a:r>
              <a:t>trend analysis &amp; forecasting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38BDF8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57200" cy="32004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INVESTMENTS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Portfolio Management &amp; Market Intelligence</a:t>
            </a:r>
          </a:p>
        </p:txBody>
      </p:sp>
      <p:sp>
        <p:nvSpPr>
          <p:cNvPr id="7" name="Oval 6"/>
          <p:cNvSpPr/>
          <p:nvPr/>
        </p:nvSpPr>
        <p:spPr>
          <a:xfrm>
            <a:off x="10515600" y="274320"/>
            <a:ext cx="914400" cy="914400"/>
          </a:xfrm>
          <a:prstGeom prst="ellipse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657600" cy="43891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3657600" cy="36576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10B981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Supported Investment Types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2633472"/>
            <a:ext cx="182880" cy="1828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Stocks &amp; Equities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301752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29443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Mutual Funds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3401567"/>
            <a:ext cx="182880" cy="18288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3328415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Fixed Deposits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" y="3785615"/>
            <a:ext cx="182880" cy="182880"/>
          </a:xfrm>
          <a:prstGeom prst="ellipse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71246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Gold (Physical + Digital)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4169663"/>
            <a:ext cx="182880" cy="18288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409651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Cryptocurrency</a:t>
            </a:r>
          </a:p>
        </p:txBody>
      </p:sp>
      <p:sp>
        <p:nvSpPr>
          <p:cNvPr id="21" name="Oval 20"/>
          <p:cNvSpPr/>
          <p:nvPr/>
        </p:nvSpPr>
        <p:spPr>
          <a:xfrm>
            <a:off x="1097280" y="4553712"/>
            <a:ext cx="182880" cy="18288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PPF / EPF / NPS</a:t>
            </a:r>
          </a:p>
        </p:txBody>
      </p:sp>
      <p:sp>
        <p:nvSpPr>
          <p:cNvPr id="23" name="Oval 22"/>
          <p:cNvSpPr/>
          <p:nvPr/>
        </p:nvSpPr>
        <p:spPr>
          <a:xfrm>
            <a:off x="1097280" y="493776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17320" y="4864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ELSS (Tax Saving)</a:t>
            </a:r>
          </a:p>
        </p:txBody>
      </p:sp>
      <p:sp>
        <p:nvSpPr>
          <p:cNvPr id="25" name="Oval 24"/>
          <p:cNvSpPr/>
          <p:nvPr/>
        </p:nvSpPr>
        <p:spPr>
          <a:xfrm>
            <a:off x="1097280" y="5321808"/>
            <a:ext cx="182880" cy="1828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52486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REITs &amp; Bonds</a:t>
            </a:r>
          </a:p>
        </p:txBody>
      </p:sp>
      <p:sp>
        <p:nvSpPr>
          <p:cNvPr id="27" name="Oval 26"/>
          <p:cNvSpPr/>
          <p:nvPr/>
        </p:nvSpPr>
        <p:spPr>
          <a:xfrm>
            <a:off x="1097280" y="5705856"/>
            <a:ext cx="182880" cy="1828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17320" y="56327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SIPs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0" y="1828800"/>
            <a:ext cx="6675120" cy="43891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54880" y="1828800"/>
            <a:ext cx="6675120" cy="36576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FBBF24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0" y="201168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22 Analytics Endpoints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▸  Portfolio Dashboard &amp; Summary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XIRR, CAGR, Absolute Returns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29626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▸  Asset Allocation 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9626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Visual allocation across types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336499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▸  Risk Analysis &amp; VaR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36499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Risk scoring, Value at Risk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37673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▸  Diversification 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37673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0-100 portfolio health score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4169663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▸  Tax Efficiency Analysis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16966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STCG / LTCG impact analysis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▸  AI Recommendations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Buy / Sell / Hold signals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49743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▸  Markowitz Optimization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49743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Mean-variance efficient frontier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53766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▸  Monte Carlo Simulation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5376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Scenario analysis with intervals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57790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▸  Black-Litterman Model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5779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Incorporating investor views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38BDF8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57200" cy="32004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DEBT &amp; 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Comprehensive Debt Freedom System</a:t>
            </a:r>
          </a:p>
        </p:txBody>
      </p:sp>
      <p:sp>
        <p:nvSpPr>
          <p:cNvPr id="7" name="Oval 6"/>
          <p:cNvSpPr/>
          <p:nvPr/>
        </p:nvSpPr>
        <p:spPr>
          <a:xfrm>
            <a:off x="10515600" y="274320"/>
            <a:ext cx="914400" cy="914400"/>
          </a:xfrm>
          <a:prstGeom prst="ellipse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560320" cy="11887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01368"/>
            <a:ext cx="2286000" cy="3200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87171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EMI API Endpoints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691640"/>
            <a:ext cx="2560320" cy="11887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0" y="1801368"/>
            <a:ext cx="2286000" cy="3200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965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BBF24"/>
                </a:solidFill>
                <a:latin typeface="Segoe UI"/>
              </a:defRPr>
            </a:pPr>
            <a:r>
              <a:t>4,384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Lines (EMI Routes)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691640"/>
            <a:ext cx="2560320" cy="11887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1801368"/>
            <a:ext cx="2286000" cy="320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965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78BFA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UI Versions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691640"/>
            <a:ext cx="2560320" cy="11887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801368"/>
            <a:ext cx="228600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965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Debt Types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200400"/>
            <a:ext cx="5212080" cy="7315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200400"/>
            <a:ext cx="45720" cy="73152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3383280"/>
            <a:ext cx="411480" cy="41148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336499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One-Click Prepay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3657600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Create prepayment intent with</a:t>
            </a:r>
            <a:br/>
            <a:r>
              <a:t>auto surplus fund sweep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069080"/>
            <a:ext cx="5212080" cy="7315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069080"/>
            <a:ext cx="45720" cy="73152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400" y="4251960"/>
            <a:ext cx="411480" cy="41148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23367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Balance Transfer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526280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Analyze transfer opportunities</a:t>
            </a:r>
            <a:br/>
            <a:r>
              <a:t>for lower interest rates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937760"/>
            <a:ext cx="5212080" cy="7315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4937760"/>
            <a:ext cx="45720" cy="73152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5120640"/>
            <a:ext cx="411480" cy="41148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510235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Foreclosure Calc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5394960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Calculate early closure costs</a:t>
            </a:r>
            <a:br/>
            <a:r>
              <a:t>and total savings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806440"/>
            <a:ext cx="5212080" cy="7315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" y="5806440"/>
            <a:ext cx="45720" cy="73152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14400" y="5989320"/>
            <a:ext cx="411480" cy="41148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597103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PDF/Excel Export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6263640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Export amortization schedules</a:t>
            </a:r>
            <a:br/>
            <a:r>
              <a:t>in multiple formats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3200400"/>
            <a:ext cx="5212080" cy="7315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0" y="3200400"/>
            <a:ext cx="45720" cy="7315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00800" y="3383280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336499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Late Fee Shield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3657600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Automated late fee protection</a:t>
            </a:r>
            <a:br/>
            <a:r>
              <a:t>with pre-due reminders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4069080"/>
            <a:ext cx="5212080" cy="7315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17920" y="4069080"/>
            <a:ext cx="45720" cy="7315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400800" y="4251960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423367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Snowball vs Avalanche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4526280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Compare payoff strategies</a:t>
            </a:r>
            <a:br/>
            <a:r>
              <a:t>+ AI hybrid recommendation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4937760"/>
            <a:ext cx="5212080" cy="7315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7920" y="4937760"/>
            <a:ext cx="45720" cy="7315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400800" y="5120640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49440" y="510235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Bank Deduction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0" y="5394960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Track auto-deduction from</a:t>
            </a:r>
            <a:br/>
            <a:r>
              <a:t>linked bank accounts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7920" y="5806440"/>
            <a:ext cx="5212080" cy="7315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17920" y="5806440"/>
            <a:ext cx="45720" cy="7315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400800" y="5989320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49440" y="597103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Emergency Fund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49440" y="6263640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Track fund with contribution</a:t>
            </a:r>
            <a:br/>
            <a:r>
              <a:t>history and goal progress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38BDF8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57200" cy="32004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AI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Machine Learning — 100% Local, Zero APIs</a:t>
            </a:r>
          </a:p>
        </p:txBody>
      </p:sp>
      <p:sp>
        <p:nvSpPr>
          <p:cNvPr id="7" name="Oval 6"/>
          <p:cNvSpPr/>
          <p:nvPr/>
        </p:nvSpPr>
        <p:spPr>
          <a:xfrm>
            <a:off x="10515600" y="274320"/>
            <a:ext cx="914400" cy="914400"/>
          </a:xfrm>
          <a:prstGeom prst="ellipse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10698480" cy="914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2E8F0"/>
                </a:solidFill>
                <a:latin typeface="Segoe UI"/>
              </a:defRPr>
            </a:pPr>
            <a:r>
              <a:t>Every algorithm implemented from scratch in JavaScript — no TensorFlow, no PyTorch, no OpenAI.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Full data privacy. Zero API costs. Unlimited predictions. Works offline.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2606040" cy="16459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260604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63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358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Core 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3063240"/>
            <a:ext cx="914400" cy="22860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3063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0F1A"/>
                </a:solidFill>
                <a:latin typeface="Segoe UI"/>
              </a:defRPr>
            </a:pPr>
            <a:r>
              <a:t>4,650 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8328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Neural Networks, Decision Trees,</a:t>
            </a:r>
            <a:br/>
            <a:r>
              <a:t>Random Forest, K-Means, PCA,</a:t>
            </a:r>
            <a:br/>
            <a:r>
              <a:t>ARIMA, Holt-Winters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2926080"/>
            <a:ext cx="2606040" cy="16459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66160" y="2926080"/>
            <a:ext cx="2606040" cy="320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3063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30358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Training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3063240"/>
            <a:ext cx="91440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3063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0F1A"/>
                </a:solidFill>
                <a:latin typeface="Segoe UI"/>
              </a:defRPr>
            </a:pPr>
            <a:r>
              <a:t>4,880 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338328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Auto Pipeline, Self-Learning,</a:t>
            </a:r>
            <a:br/>
            <a:r>
              <a:t>AutoML, Model Registry,</a:t>
            </a:r>
            <a:br/>
            <a:r>
              <a:t>Drift Detection, A/B Testing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926080"/>
            <a:ext cx="2606040" cy="16459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2926080"/>
            <a:ext cx="2606040" cy="320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063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0358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Prediction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80" y="3063240"/>
            <a:ext cx="914400" cy="22860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0" y="3063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0F1A"/>
                </a:solidFill>
                <a:latin typeface="Segoe UI"/>
              </a:defRPr>
            </a:pPr>
            <a:r>
              <a:t>2,360 lines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38328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Financial Forecasting, CIBIL</a:t>
            </a:r>
            <a:br/>
            <a:r>
              <a:t>Score Prediction, Cash Flow</a:t>
            </a:r>
            <a:br/>
            <a:r>
              <a:t>Intelligence &amp; Projection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2926080"/>
            <a:ext cx="2606040" cy="16459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35440" y="2926080"/>
            <a:ext cx="2606040" cy="3200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2600" y="3063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30358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Anomaly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89920" y="3063240"/>
            <a:ext cx="914400" cy="228600"/>
          </a:xfrm>
          <a:prstGeom prst="round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89920" y="3063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0F1A"/>
                </a:solidFill>
                <a:latin typeface="Segoe UI"/>
              </a:defRPr>
            </a:pPr>
            <a:r>
              <a:t>2,510 lines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338328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Isolation Forest, LOF,</a:t>
            </a:r>
            <a:br/>
            <a:r>
              <a:t>Autoencoder, SPC Control</a:t>
            </a:r>
            <a:br/>
            <a:r>
              <a:t>Charts, Fraud Detection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846320"/>
            <a:ext cx="2606040" cy="16459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" y="4846320"/>
            <a:ext cx="2606040" cy="320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49834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49560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NLP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86000" y="4983480"/>
            <a:ext cx="914400" cy="228600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86000" y="4983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0F1A"/>
                </a:solidFill>
                <a:latin typeface="Segoe UI"/>
              </a:defRPr>
            </a:pPr>
            <a:r>
              <a:t>4,270 lines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530352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TF-IDF, NER, Sentiment,</a:t>
            </a:r>
            <a:br/>
            <a:r>
              <a:t>Conversational AI, Semantic</a:t>
            </a:r>
            <a:br/>
            <a:r>
              <a:t>Search, NL Report Gen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566160" y="4846320"/>
            <a:ext cx="2606040" cy="16459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566160" y="4846320"/>
            <a:ext cx="2606040" cy="3200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03320" y="49834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69080" y="49560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Optimization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120640" y="4983480"/>
            <a:ext cx="914400" cy="22860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20640" y="4983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0F1A"/>
                </a:solidFill>
                <a:latin typeface="Segoe UI"/>
              </a:defRPr>
            </a:pPr>
            <a:r>
              <a:t>3,970 lines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03320" y="530352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RL (DQN, Actor-Critic),</a:t>
            </a:r>
            <a:br/>
            <a:r>
              <a:t>Portfolio (Markowitz),</a:t>
            </a:r>
            <a:br/>
            <a:r>
              <a:t>Goals, Tax Harvesting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0" y="4846320"/>
            <a:ext cx="2606040" cy="16459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00800" y="4846320"/>
            <a:ext cx="2606040" cy="320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37960" y="49834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03720" y="49560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Behavioral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955280" y="4983480"/>
            <a:ext cx="914400" cy="228600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80" y="4983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0F1A"/>
                </a:solidFill>
                <a:latin typeface="Segoe UI"/>
              </a:defRPr>
            </a:pPr>
            <a:r>
              <a:t>3,200 lines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37960" y="530352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Bias Detection, Spending</a:t>
            </a:r>
            <a:br/>
            <a:r>
              <a:t>Patterns, Peer Comparison,</a:t>
            </a:r>
            <a:br/>
            <a:r>
              <a:t>Financial Wellness Score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235440" y="4846320"/>
            <a:ext cx="2606040" cy="16459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235440" y="4846320"/>
            <a:ext cx="2606040" cy="32004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72600" y="49834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38360" y="49560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Explainable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789920" y="4983480"/>
            <a:ext cx="914400" cy="228600"/>
          </a:xfrm>
          <a:prstGeom prst="round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789920" y="4983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0F1A"/>
                </a:solidFill>
                <a:latin typeface="Segoe UI"/>
              </a:defRPr>
            </a:pPr>
            <a:r>
              <a:t>1,805 lines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72600" y="530352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SHAP, LIME, Counterfactual</a:t>
            </a:r>
            <a:br/>
            <a:r>
              <a:t>Analysis, Knowledge Graph,</a:t>
            </a:r>
            <a:br/>
            <a:r>
              <a:t>Decision Audit Trail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38BDF8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57200" cy="32004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AI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13 Dedicated AI Feature Pages</a:t>
            </a:r>
          </a:p>
        </p:txBody>
      </p:sp>
      <p:sp>
        <p:nvSpPr>
          <p:cNvPr id="7" name="Oval 6"/>
          <p:cNvSpPr/>
          <p:nvPr/>
        </p:nvSpPr>
        <p:spPr>
          <a:xfrm>
            <a:off x="10515600" y="274320"/>
            <a:ext cx="914400" cy="914400"/>
          </a:xfrm>
          <a:prstGeom prst="ellipse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828800"/>
            <a:ext cx="150876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150876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0116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4231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AI Chatbot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74320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Multi-turn conversational</a:t>
            </a:r>
            <a:br/>
            <a:r>
              <a:t>financial AI assistant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38528" y="1828800"/>
            <a:ext cx="150876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8528" y="1828800"/>
            <a:ext cx="1508760" cy="320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38528" y="20116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38528" y="24231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RL Optimizer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9968" y="274320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Q-Learning / DQN budget</a:t>
            </a:r>
            <a:br/>
            <a:r>
              <a:t>&amp; investment optimizer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02736" y="1828800"/>
            <a:ext cx="150876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02736" y="1828800"/>
            <a:ext cx="1508760" cy="320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20116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2736" y="24231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Model Observatory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94176" y="274320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ML performance monitoring</a:t>
            </a:r>
            <a:br/>
            <a:r>
              <a:t>&amp; drift detection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66944" y="1828800"/>
            <a:ext cx="150876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66944" y="1828800"/>
            <a:ext cx="1508760" cy="3200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66944" y="20116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66944" y="24231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Anomaly Lab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58384" y="274320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Multi-algorithm ensemble</a:t>
            </a:r>
            <a:br/>
            <a:r>
              <a:t>detection (IF, LOF, SPC)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31152" y="1828800"/>
            <a:ext cx="150876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31152" y="1828800"/>
            <a:ext cx="1508760" cy="3200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31152" y="20116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1152" y="24231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Financial Planner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2592" y="274320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AI-powered comprehensive</a:t>
            </a:r>
            <a:br/>
            <a:r>
              <a:t>lifetime financial plan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1828800"/>
            <a:ext cx="150876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95360" y="1828800"/>
            <a:ext cx="1508760" cy="320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0" y="20116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24231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Spending Intel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274320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Merchant-level analysis,</a:t>
            </a:r>
            <a:br/>
            <a:r>
              <a:t>impulse spend detection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59568" y="1828800"/>
            <a:ext cx="150876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259568" y="1828800"/>
            <a:ext cx="150876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59568" y="20116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59568" y="24231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Portfolio 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51008" y="274320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Markowitz, Black-Litterman,</a:t>
            </a:r>
            <a:br/>
            <a:r>
              <a:t>Efficient Frontier gen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4320" y="4114800"/>
            <a:ext cx="150876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4320" y="4114800"/>
            <a:ext cx="1508760" cy="32004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42976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47091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Credit Predictor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502920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CIBIL score prediction +</a:t>
            </a:r>
            <a:br/>
            <a:r>
              <a:t>what-if simulation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938528" y="4114800"/>
            <a:ext cx="150876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938528" y="4114800"/>
            <a:ext cx="1508760" cy="320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38528" y="42976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38528" y="47091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Cash Flow AI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29968" y="502920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Income pattern detection,</a:t>
            </a:r>
            <a:br/>
            <a:r>
              <a:t>liquidity assessment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02736" y="4114800"/>
            <a:ext cx="150876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602736" y="4114800"/>
            <a:ext cx="1508760" cy="32004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02736" y="42976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02736" y="47091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Sub Manager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94176" y="502920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Auto-detect 55+ Indian</a:t>
            </a:r>
            <a:br/>
            <a:r>
              <a:t>subscriptions, optimize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266944" y="4114800"/>
            <a:ext cx="150876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66944" y="4114800"/>
            <a:ext cx="1508760" cy="320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66944" y="42976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🎯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66944" y="47091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Goal &amp; Tax AI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58384" y="502920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Goal achievement + tax</a:t>
            </a:r>
            <a:br/>
            <a:r>
              <a:t>harvesting (STCG/LTCG)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931152" y="4114800"/>
            <a:ext cx="150876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931152" y="4114800"/>
            <a:ext cx="1508760" cy="3200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31152" y="42976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❤️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31152" y="47091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Wellness AI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22592" y="502920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8-dimension financial</a:t>
            </a:r>
            <a:br/>
            <a:r>
              <a:t>wellness scoring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595360" y="4114800"/>
            <a:ext cx="150876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595360" y="4114800"/>
            <a:ext cx="1508760" cy="320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95360" y="42976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🏠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95360" y="47091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AI Command V3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86800" y="502920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Central control panel</a:t>
            </a:r>
            <a:br/>
            <a:r>
              <a:t>with health monitoring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38BDF8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57200" cy="32004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NLP &amp;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Natural Language Processing &amp; AI Conversations</a:t>
            </a:r>
          </a:p>
        </p:txBody>
      </p:sp>
      <p:sp>
        <p:nvSpPr>
          <p:cNvPr id="7" name="Oval 6"/>
          <p:cNvSpPr/>
          <p:nvPr/>
        </p:nvSpPr>
        <p:spPr>
          <a:xfrm>
            <a:off x="10515600" y="274320"/>
            <a:ext cx="914400" cy="914400"/>
          </a:xfrm>
          <a:prstGeom prst="ellipse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303520" cy="457200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5303520" cy="36576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38BDF8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Segoe UI"/>
              </a:defRPr>
            </a:pPr>
            <a:r>
              <a:t>NLP Capabilities (5 modules, 4,270 lines)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2514600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Tokenizer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468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Porter-like stemming, financial term preservation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2971800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TF-IDF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926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Document vectorization &amp; similarity matching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3429000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383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Sentiment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383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Transaction-level sentiment analysis</a:t>
            </a:r>
          </a:p>
        </p:txBody>
      </p:sp>
      <p:sp>
        <p:nvSpPr>
          <p:cNvPr id="20" name="Oval 19"/>
          <p:cNvSpPr/>
          <p:nvPr/>
        </p:nvSpPr>
        <p:spPr>
          <a:xfrm>
            <a:off x="1005840" y="3886200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Financial 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840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Extract ₹ amounts, dates, accounts, merchants</a:t>
            </a:r>
          </a:p>
        </p:txBody>
      </p:sp>
      <p:sp>
        <p:nvSpPr>
          <p:cNvPr id="23" name="Oval 22"/>
          <p:cNvSpPr/>
          <p:nvPr/>
        </p:nvSpPr>
        <p:spPr>
          <a:xfrm>
            <a:off x="1005840" y="4343400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Query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297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"Show me food spending &gt; ₹500 last month"</a:t>
            </a:r>
          </a:p>
        </p:txBody>
      </p:sp>
      <p:sp>
        <p:nvSpPr>
          <p:cNvPr id="26" name="Oval 25"/>
          <p:cNvSpPr/>
          <p:nvPr/>
        </p:nvSpPr>
        <p:spPr>
          <a:xfrm>
            <a:off x="1005840" y="4800600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754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Summarizer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754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Auto-generate financial narrative reports</a:t>
            </a:r>
          </a:p>
        </p:txBody>
      </p:sp>
      <p:sp>
        <p:nvSpPr>
          <p:cNvPr id="29" name="Oval 28"/>
          <p:cNvSpPr/>
          <p:nvPr/>
        </p:nvSpPr>
        <p:spPr>
          <a:xfrm>
            <a:off x="1005840" y="5257800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Semantic 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212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Fuzzy matching, intent-aware, faceted search</a:t>
            </a:r>
          </a:p>
        </p:txBody>
      </p:sp>
      <p:sp>
        <p:nvSpPr>
          <p:cNvPr id="32" name="Oval 31"/>
          <p:cNvSpPr/>
          <p:nvPr/>
        </p:nvSpPr>
        <p:spPr>
          <a:xfrm>
            <a:off x="1005840" y="5715000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669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Doc Intelligence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669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Parse bank statements, salary slips, tax docs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1828800"/>
            <a:ext cx="5120640" cy="457200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1828800"/>
            <a:ext cx="5120640" cy="36576"/>
          </a:xfrm>
          <a:prstGeom prst="rect">
            <a:avLst/>
          </a:prstGeom>
          <a:gradFill rotWithShape="1">
            <a:gsLst>
              <a:gs pos="0">
                <a:srgbClr val="10B981"/>
              </a:gs>
              <a:gs pos="100000">
                <a:srgbClr val="2DD4BF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2011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Conversational AI (1,291 lines)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2468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Multi-turn dialogue with memory persistence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28163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Short-term + long-term conversation memory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31638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Intent classification (40+ financial intents)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35112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Entity extraction (amounts, dates, categories)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38587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Context tracking across conversation turns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Preference learning from interactions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45537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3 chat versions (V1, V2, Enterprise V3)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49011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</a:p>
        </p:txBody>
      </p:sp>
      <p:sp>
        <p:nvSpPr>
          <p:cNvPr id="46" name="TextBox 45"/>
          <p:cNvSpPr txBox="1"/>
          <p:nvPr/>
        </p:nvSpPr>
        <p:spPr>
          <a:xfrm>
            <a:off x="6675120" y="524865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Example queries: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55961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  "How much did I spend on Swiggy?"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5943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  "Compare this month vs last month"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62910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  "What's my savings rate this quarter?"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38BDF8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57200" cy="32004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Anomaly Detection &amp; Fraud Prevention</a:t>
            </a:r>
          </a:p>
        </p:txBody>
      </p:sp>
      <p:sp>
        <p:nvSpPr>
          <p:cNvPr id="7" name="Oval 6"/>
          <p:cNvSpPr/>
          <p:nvPr/>
        </p:nvSpPr>
        <p:spPr>
          <a:xfrm>
            <a:off x="10515600" y="274320"/>
            <a:ext cx="914400" cy="914400"/>
          </a:xfrm>
          <a:prstGeom prst="ellipse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303520" cy="457200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5303520" cy="36576"/>
          </a:xfrm>
          <a:prstGeom prst="rect">
            <a:avLst/>
          </a:prstGeom>
          <a:gradFill rotWithShape="1">
            <a:gsLst>
              <a:gs pos="0">
                <a:srgbClr val="F87171"/>
              </a:gs>
              <a:gs pos="100000">
                <a:srgbClr val="FBBF24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7171"/>
                </a:solidFill>
                <a:latin typeface="Segoe UI"/>
              </a:defRPr>
            </a:pPr>
            <a:r>
              <a:t>Anomaly Detection — 5 Ensemble Algorithms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560320"/>
            <a:ext cx="274320" cy="274320"/>
          </a:xfrm>
          <a:prstGeom prst="round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60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0F1A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Isolation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834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Random partitioning — anomalies</a:t>
            </a:r>
            <a:br/>
            <a:r>
              <a:t>isolate faster than normal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337560"/>
            <a:ext cx="274320" cy="27432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337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0F1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337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Local Outlier Factor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611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Local density comparison —</a:t>
            </a:r>
            <a:br/>
            <a:r>
              <a:t>finds contextual outliers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4114800"/>
            <a:ext cx="274320" cy="274320"/>
          </a:xfrm>
          <a:prstGeom prst="round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114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0F1A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Statistical Process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389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Shewhart control charts with</a:t>
            </a:r>
            <a:br/>
            <a:r>
              <a:t>upper/lower control limits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4892040"/>
            <a:ext cx="274320" cy="274320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8920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0F1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892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Autoencoder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166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Neural network reconstruction</a:t>
            </a:r>
            <a:br/>
            <a:r>
              <a:t>error — high error = anomaly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5669279"/>
            <a:ext cx="274320" cy="27432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6692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0F1A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6692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DBSCAN Clustering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94359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Density-based outlier detection</a:t>
            </a:r>
            <a:br/>
            <a:r>
              <a:t>for group-level anomalies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1828800"/>
            <a:ext cx="5120640" cy="457200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1828800"/>
            <a:ext cx="5120640" cy="36576"/>
          </a:xfrm>
          <a:prstGeom prst="rect">
            <a:avLst/>
          </a:prstGeom>
          <a:gradFill rotWithShape="1">
            <a:gsLst>
              <a:gs pos="0">
                <a:srgbClr val="FBBF24"/>
              </a:gs>
              <a:gs pos="100000">
                <a:srgbClr val="F87171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2011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BF24"/>
                </a:solidFill>
                <a:latin typeface="Segoe UI"/>
              </a:defRPr>
            </a:pPr>
            <a:r>
              <a:t>Fraud Prevention — 5 Defense Layers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2514600"/>
            <a:ext cx="4754880" cy="6400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92240" y="2514600"/>
            <a:ext cx="45720" cy="64008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675120" y="2697480"/>
            <a:ext cx="411480" cy="41148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26791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Rule Engine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2971800"/>
            <a:ext cx="384048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Configurable rules: high-value</a:t>
            </a:r>
            <a:br/>
            <a:r>
              <a:t>threshold &gt; 5× average, velocity</a:t>
            </a:r>
            <a:br/>
            <a:r>
              <a:t>checks, daily spending limits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92240" y="3264408"/>
            <a:ext cx="4754880" cy="6400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92240" y="3264408"/>
            <a:ext cx="45720" cy="6400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675120" y="3447288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34290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ML Scoring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3721608"/>
            <a:ext cx="384048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Anomaly detection ensemble</a:t>
            </a:r>
            <a:br/>
            <a:r>
              <a:t>integration for real-time</a:t>
            </a:r>
            <a:br/>
            <a:r>
              <a:t>transaction scoring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4014215"/>
            <a:ext cx="4754880" cy="6400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92240" y="4014215"/>
            <a:ext cx="45720" cy="64008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675120" y="4197095"/>
            <a:ext cx="411480" cy="411480"/>
          </a:xfrm>
          <a:prstGeom prst="ellipse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4178807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Behavioral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4471415"/>
            <a:ext cx="384048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Spending pattern deviation</a:t>
            </a:r>
            <a:br/>
            <a:r>
              <a:t>analysis detects compromised</a:t>
            </a:r>
            <a:br/>
            <a:r>
              <a:t>account activity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92240" y="4764024"/>
            <a:ext cx="4754880" cy="6400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92240" y="4764024"/>
            <a:ext cx="45720" cy="6400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75120" y="4946904"/>
            <a:ext cx="411480" cy="41148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60" y="492861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Velocity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3760" y="5221224"/>
            <a:ext cx="384048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Transaction frequency + amount</a:t>
            </a:r>
            <a:br/>
            <a:r>
              <a:t>velocity checks per timeframe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92240" y="5513831"/>
            <a:ext cx="4754880" cy="6400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92240" y="5513831"/>
            <a:ext cx="45720" cy="6400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675120" y="5696711"/>
            <a:ext cx="411480" cy="4114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📍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60" y="5678423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Geolocation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3760" y="5971031"/>
            <a:ext cx="384048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Location-based anomaly</a:t>
            </a:r>
            <a:br/>
            <a:r>
              <a:t>detection for unusual</a:t>
            </a:r>
            <a:br/>
            <a:r>
              <a:t>transaction origins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38BDF8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57200" cy="32004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ENTERPRISE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3-Generation Progressive UI Architecture</a:t>
            </a:r>
          </a:p>
        </p:txBody>
      </p:sp>
      <p:sp>
        <p:nvSpPr>
          <p:cNvPr id="7" name="Oval 6"/>
          <p:cNvSpPr/>
          <p:nvPr/>
        </p:nvSpPr>
        <p:spPr>
          <a:xfrm>
            <a:off x="10515600" y="274320"/>
            <a:ext cx="914400" cy="914400"/>
          </a:xfrm>
          <a:prstGeom prst="ellipse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474720" cy="25603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347472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965960"/>
            <a:ext cx="457200" cy="32004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65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Segoe UI"/>
              </a:defRPr>
            </a:pPr>
            <a:r>
              <a:t>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842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Functional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011680"/>
            <a:ext cx="1005840" cy="201168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201168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80+ pages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Core financial operations</a:t>
            </a:r>
            <a:br/>
            <a:r>
              <a:t>Tailwind-based UI</a:t>
            </a:r>
            <a:br/>
            <a:r>
              <a:t>Full feature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4903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✅ Stable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1828800"/>
            <a:ext cx="3474720" cy="25603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59" y="1828800"/>
            <a:ext cx="3474720" cy="320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17719" y="1965960"/>
            <a:ext cx="457200" cy="3200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19" y="1965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Segoe UI"/>
              </a:defRPr>
            </a:pPr>
            <a:r>
              <a:t>V2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9" y="19842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Enhanced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59" y="2011680"/>
            <a:ext cx="1005840" cy="201168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59" y="201168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11 pages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39" y="24231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MUI 7 components</a:t>
            </a:r>
            <a:br/>
            <a:r>
              <a:t>Animated KPIs &amp; charts</a:t>
            </a:r>
            <a:br/>
            <a:r>
              <a:t>Enhanced UX patterns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39" y="374903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🚀 Enhanced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1828800"/>
            <a:ext cx="3474720" cy="25603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1828800"/>
            <a:ext cx="3474720" cy="320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66760" y="1965960"/>
            <a:ext cx="457200" cy="320040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1965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Segoe UI"/>
              </a:defRPr>
            </a:pPr>
            <a:r>
              <a:t>V3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19842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Enterprise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15600" y="2011680"/>
            <a:ext cx="1005840" cy="201168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0" y="201168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13 pages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4231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Real-time analytics</a:t>
            </a:r>
            <a:br/>
            <a:r>
              <a:t>AI-powered dashboards</a:t>
            </a:r>
            <a:br/>
            <a:r>
              <a:t>Department-level insights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74903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Segoe UI"/>
              </a:defRPr>
            </a:pPr>
            <a:r>
              <a:t>⚡ Enterprise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754880"/>
            <a:ext cx="3474720" cy="7315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4754880"/>
            <a:ext cx="45720" cy="73152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4400" y="4937760"/>
            <a:ext cx="411480" cy="41148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49194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Admin Panel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52120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User management, system health, role control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80559" y="4754880"/>
            <a:ext cx="3474720" cy="7315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80559" y="4754880"/>
            <a:ext cx="45720" cy="7315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663439" y="4937760"/>
            <a:ext cx="411480" cy="41148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79" y="49194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Automation Engine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2079" y="52120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If-then automation rules with cron scheduling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0" y="4754880"/>
            <a:ext cx="3474720" cy="7315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29600" y="4754880"/>
            <a:ext cx="45720" cy="7315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412480" y="4937760"/>
            <a:ext cx="411480" cy="4114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49194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Smart Notifications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0" y="52120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AI priority P0-P3, fatigue prevention, timing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" y="5623560"/>
            <a:ext cx="3474720" cy="7315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1520" y="5623560"/>
            <a:ext cx="45720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14400" y="580644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63040" y="57881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Activity Logging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63040" y="60807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Full audit trail — every API request logged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480559" y="5623560"/>
            <a:ext cx="3474720" cy="7315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480559" y="5623560"/>
            <a:ext cx="45720" cy="7315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663439" y="5806440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12079" y="57881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Enterprise Reports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12079" y="60807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Scheduled PDF/Excel delivery with branding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29600" y="5623560"/>
            <a:ext cx="3474720" cy="7315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29600" y="5623560"/>
            <a:ext cx="45720" cy="7315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412480" y="5806440"/>
            <a:ext cx="411480" cy="41148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61120" y="57881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Lender Dashboard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61120" y="60807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Role-based dashboard for money lenders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38BDF8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57200" cy="32004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Analytics, Reports &amp; Data Export</a:t>
            </a:r>
          </a:p>
        </p:txBody>
      </p:sp>
      <p:sp>
        <p:nvSpPr>
          <p:cNvPr id="7" name="Oval 6"/>
          <p:cNvSpPr/>
          <p:nvPr/>
        </p:nvSpPr>
        <p:spPr>
          <a:xfrm>
            <a:off x="10515600" y="274320"/>
            <a:ext cx="914400" cy="914400"/>
          </a:xfrm>
          <a:prstGeom prst="ellipse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606040" cy="16459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260604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3172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Reports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5176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Financial report generation</a:t>
            </a:r>
            <a:br/>
            <a:r>
              <a:t>with 3 UI versions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828800"/>
            <a:ext cx="2606040" cy="16459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1828800"/>
            <a:ext cx="2606040" cy="320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01168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3172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Advanced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65176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Multi-dimensional analysis</a:t>
            </a:r>
            <a:br/>
            <a:r>
              <a:t>with category drill-down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828800"/>
            <a:ext cx="2606040" cy="16459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828800"/>
            <a:ext cx="2606040" cy="320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01168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33172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Data Viz 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65176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Interactive data visualization</a:t>
            </a:r>
            <a:br/>
            <a:r>
              <a:t>playground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1828800"/>
            <a:ext cx="2606040" cy="16459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1828800"/>
            <a:ext cx="2606040" cy="3200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201168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33172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Export Center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65176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PDF / Excel / CSV output</a:t>
            </a:r>
            <a:br/>
            <a:r>
              <a:t>with custom templates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840480"/>
            <a:ext cx="2606040" cy="16459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3840480"/>
            <a:ext cx="2606040" cy="320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02336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⚖️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34340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Comparison Tool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66344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Month-over-month, year-over-</a:t>
            </a:r>
            <a:br/>
            <a:r>
              <a:t>year analysis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66160" y="3840480"/>
            <a:ext cx="2606040" cy="16459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66160" y="3840480"/>
            <a:ext cx="2606040" cy="32004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66160" y="402336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34340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Scorecard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3320" y="466344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Comprehensive financial</a:t>
            </a:r>
            <a:br/>
            <a:r>
              <a:t>scoring across all metrics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3840480"/>
            <a:ext cx="2606040" cy="16459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3840480"/>
            <a:ext cx="2606040" cy="3200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02336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34340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Risk Dashboard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466344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Financial risk assessment</a:t>
            </a:r>
            <a:br/>
            <a:r>
              <a:t>with drill-down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35440" y="3840480"/>
            <a:ext cx="2606040" cy="16459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35440" y="3840480"/>
            <a:ext cx="2606040" cy="320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402336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434340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Spending Insights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72600" y="466344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Deep spending analysis</a:t>
            </a:r>
            <a:br/>
            <a:r>
              <a:t>(2 versions)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6035040"/>
            <a:ext cx="10698480" cy="5486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828800" y="608076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6126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PDF</a:t>
            </a:r>
          </a:p>
        </p:txBody>
      </p:sp>
      <p:sp>
        <p:nvSpPr>
          <p:cNvPr id="51" name="Oval 50"/>
          <p:cNvSpPr/>
          <p:nvPr/>
        </p:nvSpPr>
        <p:spPr>
          <a:xfrm>
            <a:off x="4389120" y="608076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46320" y="6126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Excel</a:t>
            </a:r>
          </a:p>
        </p:txBody>
      </p:sp>
      <p:sp>
        <p:nvSpPr>
          <p:cNvPr id="53" name="Oval 52"/>
          <p:cNvSpPr/>
          <p:nvPr/>
        </p:nvSpPr>
        <p:spPr>
          <a:xfrm>
            <a:off x="6949440" y="6080760"/>
            <a:ext cx="365760" cy="36576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06640" y="6126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CSV</a:t>
            </a:r>
          </a:p>
        </p:txBody>
      </p:sp>
      <p:sp>
        <p:nvSpPr>
          <p:cNvPr id="55" name="Oval 54"/>
          <p:cNvSpPr/>
          <p:nvPr/>
        </p:nvSpPr>
        <p:spPr>
          <a:xfrm>
            <a:off x="9509759" y="6080760"/>
            <a:ext cx="365760" cy="36576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{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66959" y="6126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JSON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38BDF8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57200" cy="32004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INTEGRATIONS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Platform Integrations &amp; Connectivity</a:t>
            </a:r>
          </a:p>
        </p:txBody>
      </p:sp>
      <p:sp>
        <p:nvSpPr>
          <p:cNvPr id="7" name="Oval 6"/>
          <p:cNvSpPr/>
          <p:nvPr/>
        </p:nvSpPr>
        <p:spPr>
          <a:xfrm>
            <a:off x="10515600" y="274320"/>
            <a:ext cx="914400" cy="914400"/>
          </a:xfrm>
          <a:prstGeom prst="ellipse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474720" cy="128016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45720" cy="12801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011680"/>
            <a:ext cx="411480" cy="4114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9933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Gmail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2860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Auto-sync bank email alerts</a:t>
            </a:r>
            <a:br/>
            <a:r>
              <a:t>(UPI, NEFT, CC, RTGS)</a:t>
            </a:r>
            <a:br/>
            <a:r>
              <a:t>1-year lookback on first sync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828800"/>
            <a:ext cx="3474720" cy="128016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59" y="1828800"/>
            <a:ext cx="45720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63439" y="201168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9" y="19933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Google Drive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9" y="22860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Cloud backup and restore</a:t>
            </a:r>
            <a:br/>
            <a:r>
              <a:t>of all financial data with</a:t>
            </a:r>
            <a:br/>
            <a:r>
              <a:t>scheduled auto-sync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828800"/>
            <a:ext cx="3474720" cy="128016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828800"/>
            <a:ext cx="45720" cy="128016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12480" y="2011680"/>
            <a:ext cx="411480" cy="41148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19933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Plaid Banking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2860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Direct bank connection</a:t>
            </a:r>
            <a:br/>
            <a:r>
              <a:t>transaction import, balance</a:t>
            </a:r>
            <a:br/>
            <a:r>
              <a:t>synchronization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383280"/>
            <a:ext cx="3474720" cy="128016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383280"/>
            <a:ext cx="45720" cy="12801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5478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Firebase Auth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3840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Google OAuth login +</a:t>
            </a:r>
            <a:br/>
            <a:r>
              <a:t>cloud hosting deployment</a:t>
            </a:r>
            <a:br/>
            <a:r>
              <a:t>Dual auth backend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59" y="3383280"/>
            <a:ext cx="3474720" cy="128016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59" y="3383280"/>
            <a:ext cx="45720" cy="12801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63439" y="3566160"/>
            <a:ext cx="411480" cy="41148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79" y="35478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Twilio SMS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3840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SMS notifications for</a:t>
            </a:r>
            <a:br/>
            <a:r>
              <a:t>critical alerts: fraud,</a:t>
            </a:r>
            <a:br/>
            <a:r>
              <a:t>EMI due, budget exceeded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3383280"/>
            <a:ext cx="3474720" cy="128016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3383280"/>
            <a:ext cx="45720" cy="12801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3566160"/>
            <a:ext cx="411480" cy="41148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35478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WebSocket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3840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Real-time notifications,</a:t>
            </a:r>
            <a:br/>
            <a:r>
              <a:t>live dashboard updates,</a:t>
            </a:r>
            <a:br/>
            <a:r>
              <a:t>cross-device sync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937760"/>
            <a:ext cx="3474720" cy="128016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1520" y="4937760"/>
            <a:ext cx="45720" cy="128016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14400" y="5120640"/>
            <a:ext cx="411480" cy="41148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3040" y="51023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Tesseract OCR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53949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Receipt &amp; document text</a:t>
            </a:r>
            <a:br/>
            <a:r>
              <a:t>extraction for auto</a:t>
            </a:r>
            <a:br/>
            <a:r>
              <a:t>transaction creation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80559" y="4937760"/>
            <a:ext cx="3474720" cy="128016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80559" y="4937760"/>
            <a:ext cx="45720" cy="12801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663439" y="5120640"/>
            <a:ext cx="411480" cy="4114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51023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Electron App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2079" y="53949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Native Windows/Mac</a:t>
            </a:r>
            <a:br/>
            <a:r>
              <a:t>desktop application</a:t>
            </a:r>
            <a:br/>
            <a:r>
              <a:t>with auto-update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29600" y="4937760"/>
            <a:ext cx="3474720" cy="128016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29600" y="4937760"/>
            <a:ext cx="45720" cy="128016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412480" y="5120640"/>
            <a:ext cx="411480" cy="411480"/>
          </a:xfrm>
          <a:prstGeom prst="ellipse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61120" y="51023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PWA Support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0" y="53949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Progressive Web App +</a:t>
            </a:r>
            <a:br/>
            <a:r>
              <a:t>offline capability</a:t>
            </a:r>
            <a:br/>
            <a:r>
              <a:t>with service worker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38BDF8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57200" cy="32004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Enterprise-Grade Security Architecture</a:t>
            </a:r>
          </a:p>
        </p:txBody>
      </p:sp>
      <p:sp>
        <p:nvSpPr>
          <p:cNvPr id="7" name="Oval 6"/>
          <p:cNvSpPr/>
          <p:nvPr/>
        </p:nvSpPr>
        <p:spPr>
          <a:xfrm>
            <a:off x="10515600" y="274320"/>
            <a:ext cx="914400" cy="914400"/>
          </a:xfrm>
          <a:prstGeom prst="ellipse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828800"/>
            <a:ext cx="21488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2148840" cy="3200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0116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3774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JWT 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74320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Access + Refresh token pair with</a:t>
            </a:r>
            <a:br/>
            <a:r>
              <a:t>automatic rotation and revocation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39" y="1828800"/>
            <a:ext cx="21488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6039" y="1828800"/>
            <a:ext cx="2148840" cy="3200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39" y="20116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39" y="23774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Two-Factor Auth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79" y="274320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TOTP-based 2FA via Google</a:t>
            </a:r>
            <a:br/>
            <a:r>
              <a:t>Authenticator or Authy app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59" y="1828800"/>
            <a:ext cx="21488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59" y="1828800"/>
            <a:ext cx="2148840" cy="3200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59" y="20116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59" y="23774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Password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199" y="274320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bcrypt hashing (10 salt rounds)</a:t>
            </a:r>
            <a:br/>
            <a:r>
              <a:t>+ account lockout after 5 failures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9479" y="1828800"/>
            <a:ext cx="21488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69479" y="1828800"/>
            <a:ext cx="2148840" cy="320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79" y="20116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79" y="23774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AES-256 Encryption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19" y="274320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GCM mode encryption for</a:t>
            </a:r>
            <a:br/>
            <a:r>
              <a:t>all sensitive data at rest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1828800"/>
            <a:ext cx="21488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01200" y="1828800"/>
            <a:ext cx="2148840" cy="3200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20116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3774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Rate Limiting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274320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100 req/15min general</a:t>
            </a:r>
            <a:br/>
            <a:r>
              <a:t>5 req/15min auth endpoints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4114800"/>
            <a:ext cx="21488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4114800"/>
            <a:ext cx="214884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42976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46634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Helmet Headers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502920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CSP, COEP, XSS protection</a:t>
            </a:r>
            <a:br/>
            <a:r>
              <a:t>security headers middleware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06039" y="4114800"/>
            <a:ext cx="21488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06039" y="4114800"/>
            <a:ext cx="2148840" cy="320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06039" y="42976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06039" y="46634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CORS Policy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97479" y="502920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Strict whitelisted origin</a:t>
            </a:r>
            <a:br/>
            <a:r>
              <a:t>policy with no wildcards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37759" y="4114800"/>
            <a:ext cx="21488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37759" y="4114800"/>
            <a:ext cx="2148840" cy="320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37759" y="42976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59" y="46634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Audit Trail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199" y="502920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Every API request logged to</a:t>
            </a:r>
            <a:br/>
            <a:r>
              <a:t>MongoDB + Winston file logs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69479" y="4114800"/>
            <a:ext cx="21488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69479" y="4114800"/>
            <a:ext cx="2148840" cy="320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69479" y="42976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79" y="46634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Input Validator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60919" y="502920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express-validator on all</a:t>
            </a:r>
            <a:br/>
            <a:r>
              <a:t>public-facing endpoints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01200" y="4114800"/>
            <a:ext cx="21488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01200" y="4114800"/>
            <a:ext cx="2148840" cy="32004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01200" y="42976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46634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Enterprise MW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0" y="502920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Request IDs, API versioning,</a:t>
            </a:r>
            <a:br/>
            <a:r>
              <a:t>performance monitoring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38BDF8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57200" cy="32004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ENGAGEMENT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Education, Gamification &amp; Wellness</a:t>
            </a:r>
          </a:p>
        </p:txBody>
      </p:sp>
      <p:sp>
        <p:nvSpPr>
          <p:cNvPr id="7" name="Oval 6"/>
          <p:cNvSpPr/>
          <p:nvPr/>
        </p:nvSpPr>
        <p:spPr>
          <a:xfrm>
            <a:off x="10515600" y="274320"/>
            <a:ext cx="914400" cy="914400"/>
          </a:xfrm>
          <a:prstGeom prst="ellipse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6060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45720" cy="19202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011680"/>
            <a:ext cx="411480" cy="4114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9933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Learning Center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28600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Financial education courses with</a:t>
            </a:r>
            <a:br/>
            <a:r>
              <a:t>progressive learning paths and</a:t>
            </a:r>
            <a:br/>
            <a:r>
              <a:t>quiz-based skill assessment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828800"/>
            <a:ext cx="26060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1828800"/>
            <a:ext cx="45720" cy="1920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49040" y="201168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9933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Financial Quiz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28600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Interactive knowledge quizzes</a:t>
            </a:r>
            <a:br/>
            <a:r>
              <a:t>across budgeting, investing,</a:t>
            </a:r>
            <a:br/>
            <a:r>
              <a:t>tax planning, and debt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828800"/>
            <a:ext cx="26060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828800"/>
            <a:ext cx="45720" cy="19202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80" y="2011680"/>
            <a:ext cx="411480" cy="41148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9933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Achievements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28600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Gamified milestone system:</a:t>
            </a:r>
            <a:br/>
            <a:r>
              <a:t>first budget, investment,</a:t>
            </a:r>
            <a:br/>
            <a:r>
              <a:t>10K saved, consistency streaks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1828800"/>
            <a:ext cx="26060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1828800"/>
            <a:ext cx="45720" cy="19202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18320" y="2011680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19933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Milestones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228600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Net worth milestones, debt</a:t>
            </a:r>
            <a:br/>
            <a:r>
              <a:t>freedom progress, portfolio</a:t>
            </a:r>
            <a:br/>
            <a:r>
              <a:t>growth celebrations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114800"/>
            <a:ext cx="26060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4114800"/>
            <a:ext cx="45720" cy="192024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" y="4297680"/>
            <a:ext cx="411480" cy="41148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2793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Wellness 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57200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8-dimension holistic scoring:</a:t>
            </a:r>
            <a:br/>
            <a:r>
              <a:t>income stability, expense mgmt,</a:t>
            </a:r>
            <a:br/>
            <a:r>
              <a:t>savings, debt, goals (0-100)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66160" y="4114800"/>
            <a:ext cx="26060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66160" y="4114800"/>
            <a:ext cx="45720" cy="19202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49040" y="4297680"/>
            <a:ext cx="411480" cy="41148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2793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Peer Comparison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457200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Anonymous benchmarking by</a:t>
            </a:r>
            <a:br/>
            <a:r>
              <a:t>income bracket: "You save</a:t>
            </a:r>
            <a:br/>
            <a:r>
              <a:t>more than 72% of peers"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114800"/>
            <a:ext cx="26060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4114800"/>
            <a:ext cx="45720" cy="192024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83680" y="4297680"/>
            <a:ext cx="411480" cy="41148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🧪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42793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Behavioral Finance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457200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Cognitive bias detection:</a:t>
            </a:r>
            <a:br/>
            <a:r>
              <a:t>loss aversion, anchoring,</a:t>
            </a:r>
            <a:br/>
            <a:r>
              <a:t>sunk cost, herd behavior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35440" y="4114800"/>
            <a:ext cx="26060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35440" y="4114800"/>
            <a:ext cx="45720" cy="19202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418320" y="4297680"/>
            <a:ext cx="411480" cy="4114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66960" y="42793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Smart Nudges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6960" y="457200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AI-generated behavioral nudges</a:t>
            </a:r>
            <a:br/>
            <a:r>
              <a:t>to improve financial habits</a:t>
            </a:r>
            <a:br/>
            <a:r>
              <a:t>based on spending patterns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38BDF8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57200" cy="32004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TAX &amp; RETIREMENT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Tax Optimization, Insurance &amp; Retirement Planning</a:t>
            </a:r>
          </a:p>
        </p:txBody>
      </p:sp>
      <p:sp>
        <p:nvSpPr>
          <p:cNvPr id="7" name="Oval 6"/>
          <p:cNvSpPr/>
          <p:nvPr/>
        </p:nvSpPr>
        <p:spPr>
          <a:xfrm>
            <a:off x="10515600" y="274320"/>
            <a:ext cx="914400" cy="914400"/>
          </a:xfrm>
          <a:prstGeom prst="ellipse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474720" cy="43891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3474720" cy="320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💰 Tax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68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✓  Old vs New Regime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80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✓  Section 80C/80D/80E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291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✓  AI Tax Optimization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03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✓  STCG/LTCG Capital Gains Calc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✓  Tax-Loss Harvesting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26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✓  CII Indexation Benefits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37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✓  Section 54/54F Exemptions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349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✓  FY 2025-26 Tax Rules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1828800"/>
            <a:ext cx="3474720" cy="43891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1828800"/>
            <a:ext cx="347472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2011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🛡️ Insurance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468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✓  Insurance Coverage Planner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2880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✓  Life Insurance Calculator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291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✓  Health Insurance Calculator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703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✓  Premium Tracking 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✓  Gap Analysis &amp; Recommendations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526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✓  Policy Portfolio Overview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1828800"/>
            <a:ext cx="3200400" cy="43891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1828800"/>
            <a:ext cx="3200400" cy="320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2011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🏖️ Retirement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✓  Corpus Planning + Inflation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✓  PPF Tracker (7.1% p.a.)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✓  EPF Tracker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3703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✓  NPS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✓  FIRE Calculator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4526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✓  SIP Returns Calculator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✓  Lumpsum Calculator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5349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✓  SIP Delay Cost Analysis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38BDF8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57200" cy="32004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GOALS &amp; WEALTH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Goal Tracking, Net Worth &amp; Savings</a:t>
            </a:r>
          </a:p>
        </p:txBody>
      </p:sp>
      <p:sp>
        <p:nvSpPr>
          <p:cNvPr id="7" name="Oval 6"/>
          <p:cNvSpPr/>
          <p:nvPr/>
        </p:nvSpPr>
        <p:spPr>
          <a:xfrm>
            <a:off x="10515600" y="274320"/>
            <a:ext cx="914400" cy="914400"/>
          </a:xfrm>
          <a:prstGeom prst="ellipse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6060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45720" cy="19202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011680"/>
            <a:ext cx="411480" cy="4114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9933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Financial Goals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28600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Create goals with target amount,</a:t>
            </a:r>
            <a:br/>
            <a:r>
              <a:t>deadline, priority. Track</a:t>
            </a:r>
            <a:br/>
            <a:r>
              <a:t>contributions &amp; milestones.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828800"/>
            <a:ext cx="26060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1828800"/>
            <a:ext cx="45720" cy="1920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49040" y="201168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9933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Net Worth Tracker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28600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Assets vs liabilities with</a:t>
            </a:r>
            <a:br/>
            <a:r>
              <a:t>auto-generation from data.</a:t>
            </a:r>
            <a:br/>
            <a:r>
              <a:t>Historical trend &amp; projections.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828800"/>
            <a:ext cx="26060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828800"/>
            <a:ext cx="45720" cy="19202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80" y="2011680"/>
            <a:ext cx="411480" cy="41148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9933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Property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28600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Real estate portfolio</a:t>
            </a:r>
            <a:br/>
            <a:r>
              <a:t>management with valuations</a:t>
            </a:r>
            <a:br/>
            <a:r>
              <a:t>and rental income tracking.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1828800"/>
            <a:ext cx="26060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1828800"/>
            <a:ext cx="45720" cy="19202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18320" y="2011680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19933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Savings Challenges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228600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Gamified savings with weekly</a:t>
            </a:r>
            <a:br/>
            <a:r>
              <a:t>and monthly challenges.</a:t>
            </a:r>
            <a:br/>
            <a:r>
              <a:t>Leaderboards &amp; streaks.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114800"/>
            <a:ext cx="26060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4114800"/>
            <a:ext cx="45720" cy="19202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" y="4297680"/>
            <a:ext cx="411480" cy="41148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2793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Goal Forecaster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57200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AI predicts goal achievement</a:t>
            </a:r>
            <a:br/>
            <a:r>
              <a:t>date based on current</a:t>
            </a:r>
            <a:br/>
            <a:r>
              <a:t>contribution patterns.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66160" y="4114800"/>
            <a:ext cx="26060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66160" y="4114800"/>
            <a:ext cx="45720" cy="192024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49040" y="4297680"/>
            <a:ext cx="411480" cy="41148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2793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FIRE Tracker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457200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Financial Independence Retire</a:t>
            </a:r>
            <a:br/>
            <a:r>
              <a:t>Early calculator with</a:t>
            </a:r>
            <a:br/>
            <a:r>
              <a:t>safe withdrawal rate.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114800"/>
            <a:ext cx="26060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4114800"/>
            <a:ext cx="45720" cy="192024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83680" y="4297680"/>
            <a:ext cx="411480" cy="41148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42793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Credit Score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457200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CIBIL score tracking with</a:t>
            </a:r>
            <a:br/>
            <a:r>
              <a:t>detailed factor breakdown</a:t>
            </a:r>
            <a:br/>
            <a:r>
              <a:t>and improvement plan.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35440" y="4114800"/>
            <a:ext cx="2606040" cy="19202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35440" y="4114800"/>
            <a:ext cx="45720" cy="19202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418320" y="4297680"/>
            <a:ext cx="411480" cy="4114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66960" y="42793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Wealth Management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6960" y="457200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Comprehensive wealth dashboard</a:t>
            </a:r>
            <a:br/>
            <a:r>
              <a:t>across all asset classes</a:t>
            </a:r>
            <a:br/>
            <a:r>
              <a:t>with growth projections.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38BDF8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57200" cy="32004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Theme System &amp; User Experience</a:t>
            </a:r>
          </a:p>
        </p:txBody>
      </p:sp>
      <p:sp>
        <p:nvSpPr>
          <p:cNvPr id="7" name="Oval 6"/>
          <p:cNvSpPr/>
          <p:nvPr/>
        </p:nvSpPr>
        <p:spPr>
          <a:xfrm>
            <a:off x="10515600" y="274320"/>
            <a:ext cx="914400" cy="914400"/>
          </a:xfrm>
          <a:prstGeom prst="ellipse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828800" cy="16459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B0F1A"/>
                </a:solidFill>
                <a:latin typeface="Segoe UI"/>
              </a:defRPr>
            </a:pPr>
            <a:r>
              <a:t>☀️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Segoe UI"/>
              </a:defRPr>
            </a:pPr>
            <a:r>
              <a:t>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Default bright theme</a:t>
            </a:r>
            <a:br/>
            <a:r>
              <a:t>with clean typography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828800"/>
            <a:ext cx="18288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7889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Reduced eye strain</a:t>
            </a:r>
            <a:br/>
            <a:r>
              <a:t>for night usage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1828800"/>
            <a:ext cx="1828800" cy="164592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AMOLED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7889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Pure black for OLED</a:t>
            </a:r>
            <a:br/>
            <a:r>
              <a:t>screens — saves battery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1828800"/>
            <a:ext cx="4846320" cy="16459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1828800"/>
            <a:ext cx="484632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1920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8 Accent Color Presets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0" y="237744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28346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Ocean</a:t>
            </a:r>
          </a:p>
        </p:txBody>
      </p:sp>
      <p:sp>
        <p:nvSpPr>
          <p:cNvPr id="25" name="Oval 24"/>
          <p:cNvSpPr/>
          <p:nvPr/>
        </p:nvSpPr>
        <p:spPr>
          <a:xfrm>
            <a:off x="7406640" y="2377440"/>
            <a:ext cx="365760" cy="36576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28346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Purple</a:t>
            </a:r>
          </a:p>
        </p:txBody>
      </p:sp>
      <p:sp>
        <p:nvSpPr>
          <p:cNvPr id="27" name="Oval 26"/>
          <p:cNvSpPr/>
          <p:nvPr/>
        </p:nvSpPr>
        <p:spPr>
          <a:xfrm>
            <a:off x="7955279" y="237744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39" y="28346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Emerald</a:t>
            </a:r>
          </a:p>
        </p:txBody>
      </p:sp>
      <p:sp>
        <p:nvSpPr>
          <p:cNvPr id="29" name="Oval 28"/>
          <p:cNvSpPr/>
          <p:nvPr/>
        </p:nvSpPr>
        <p:spPr>
          <a:xfrm>
            <a:off x="8503920" y="2377440"/>
            <a:ext cx="365760" cy="36576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28346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Rose</a:t>
            </a:r>
          </a:p>
        </p:txBody>
      </p:sp>
      <p:sp>
        <p:nvSpPr>
          <p:cNvPr id="31" name="Oval 30"/>
          <p:cNvSpPr/>
          <p:nvPr/>
        </p:nvSpPr>
        <p:spPr>
          <a:xfrm>
            <a:off x="9052560" y="2377440"/>
            <a:ext cx="365760" cy="36576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0" y="28346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Amber</a:t>
            </a:r>
          </a:p>
        </p:txBody>
      </p:sp>
      <p:sp>
        <p:nvSpPr>
          <p:cNvPr id="33" name="Oval 32"/>
          <p:cNvSpPr/>
          <p:nvPr/>
        </p:nvSpPr>
        <p:spPr>
          <a:xfrm>
            <a:off x="9601200" y="2377440"/>
            <a:ext cx="365760" cy="36576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0" y="28346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Teal</a:t>
            </a:r>
          </a:p>
        </p:txBody>
      </p:sp>
      <p:sp>
        <p:nvSpPr>
          <p:cNvPr id="35" name="Oval 34"/>
          <p:cNvSpPr/>
          <p:nvPr/>
        </p:nvSpPr>
        <p:spPr>
          <a:xfrm>
            <a:off x="10149840" y="2377440"/>
            <a:ext cx="365760" cy="36576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0" y="28346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Indigo</a:t>
            </a:r>
          </a:p>
        </p:txBody>
      </p:sp>
      <p:sp>
        <p:nvSpPr>
          <p:cNvPr id="37" name="Oval 36"/>
          <p:cNvSpPr/>
          <p:nvPr/>
        </p:nvSpPr>
        <p:spPr>
          <a:xfrm>
            <a:off x="10698480" y="2377440"/>
            <a:ext cx="365760" cy="36576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07040" y="28346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Sky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931920"/>
            <a:ext cx="3474720" cy="109728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" y="3931920"/>
            <a:ext cx="45720" cy="109728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14400" y="4114800"/>
            <a:ext cx="411480" cy="4114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40965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Keyboard Shortcuts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4389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Ctrl+K search, Ctrl+N new txn,</a:t>
            </a:r>
            <a:br/>
            <a:r>
              <a:t>global shortcuts with guide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80559" y="3931920"/>
            <a:ext cx="3474720" cy="109728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80559" y="3931920"/>
            <a:ext cx="45720" cy="10972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63439" y="411480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2079" y="40965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Responsive Design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2079" y="4389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Mobile-first responsive with</a:t>
            </a:r>
            <a:br/>
            <a:r>
              <a:t>dedicated mobile CSS layers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29600" y="3931920"/>
            <a:ext cx="3474720" cy="109728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29600" y="3931920"/>
            <a:ext cx="45720" cy="10972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412480" y="4114800"/>
            <a:ext cx="411480" cy="41148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0" y="40965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Smart Assistant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0" y="4389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Floating AI assistant panel</a:t>
            </a:r>
            <a:br/>
            <a:r>
              <a:t>available on every page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" y="5303520"/>
            <a:ext cx="3474720" cy="109728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31520" y="5303520"/>
            <a:ext cx="45720" cy="10972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14400" y="5486400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63040" y="5468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Sidebar Navigation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63040" y="5760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9 collapsible sections, auto-expand</a:t>
            </a:r>
            <a:br/>
            <a:r>
              <a:t>on route, localStorage persistence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480559" y="5303520"/>
            <a:ext cx="3474720" cy="109728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480559" y="5303520"/>
            <a:ext cx="45720" cy="109728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663439" y="5486400"/>
            <a:ext cx="411480" cy="41148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12079" y="5468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Notification Bell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12079" y="5760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Real-time notification count</a:t>
            </a:r>
            <a:br/>
            <a:r>
              <a:t>with WebSocket updates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29600" y="5303520"/>
            <a:ext cx="3474720" cy="109728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29600" y="5303520"/>
            <a:ext cx="45720" cy="109728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12480" y="5486400"/>
            <a:ext cx="411480" cy="41148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61120" y="5468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Quick Add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61120" y="5760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Navbar expense button + floating</a:t>
            </a:r>
            <a:br/>
            <a:r>
              <a:t>FAB for instant transaction entry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38BDF8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57200" cy="32004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DIFFERENTIATORS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What Makes Us Different</a:t>
            </a:r>
          </a:p>
        </p:txBody>
      </p:sp>
      <p:sp>
        <p:nvSpPr>
          <p:cNvPr id="7" name="Oval 6"/>
          <p:cNvSpPr/>
          <p:nvPr/>
        </p:nvSpPr>
        <p:spPr>
          <a:xfrm>
            <a:off x="10515600" y="274320"/>
            <a:ext cx="914400" cy="914400"/>
          </a:xfrm>
          <a:prstGeom prst="ellipse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105156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4008" cy="105156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2103120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0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100% Local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2402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Every ML algorithm runs locally on your server.</a:t>
            </a:r>
            <a:br/>
            <a:r>
              <a:t>Zero data leaves your infrastructure.</a:t>
            </a:r>
            <a:br/>
            <a:r>
              <a:t>No OpenAI/Claude API costs — unlimited predictions.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148840"/>
            <a:ext cx="3017520" cy="320040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148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B0F1A"/>
                </a:solidFill>
                <a:latin typeface="Segoe UI"/>
              </a:defRPr>
            </a:pPr>
            <a:r>
              <a:t>33,000+ lines of from-scratch ML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17520"/>
            <a:ext cx="10698480" cy="105156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017520"/>
            <a:ext cx="64008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329184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108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Indian Market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4290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INR formatting (Cr/L/K), CIBIL scoring, Indian</a:t>
            </a:r>
            <a:br/>
            <a:r>
              <a:t>tax rules FY 25-26, UPI detection, NPS/PPF/ELSS</a:t>
            </a:r>
            <a:br/>
            <a:r>
              <a:t>asset classes, 55+ Indian subscription services.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337560"/>
            <a:ext cx="3017520" cy="3200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337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B0F1A"/>
                </a:solidFill>
                <a:latin typeface="Segoe UI"/>
              </a:defRPr>
            </a:pPr>
            <a:r>
              <a:t>Built for India from day 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06240"/>
            <a:ext cx="10698480" cy="105156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206240"/>
            <a:ext cx="64008" cy="10515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5840" y="4480560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4297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3-Gen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177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V1 (Functional) → V2 (Enhanced MUI) → V3 (Enterprise).</a:t>
            </a:r>
            <a:br/>
            <a:r>
              <a:t>Users pick their complexity level. Progressive</a:t>
            </a:r>
            <a:br/>
            <a:r>
              <a:t>enhancement without breaking existing workflows.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4526280"/>
            <a:ext cx="3017520" cy="32004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4526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B0F1A"/>
                </a:solidFill>
                <a:latin typeface="Segoe UI"/>
              </a:defRPr>
            </a:pPr>
            <a:r>
              <a:t>Choose your experience level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394960"/>
            <a:ext cx="10698480" cy="105156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394960"/>
            <a:ext cx="64008" cy="10515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5840" y="5669280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5486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Self-Learning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58064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Per-user models retrain automatically. Drift</a:t>
            </a:r>
            <a:br/>
            <a:r>
              <a:t>detection triggers re-learning. A/B testing for</a:t>
            </a:r>
            <a:br/>
            <a:r>
              <a:t>model versions. Zero manual ML operations.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5715000"/>
            <a:ext cx="3017520" cy="32004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5715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B0F1A"/>
                </a:solidFill>
                <a:latin typeface="Segoe UI"/>
              </a:defRPr>
            </a:pPr>
            <a:r>
              <a:t>Gets smarter with every transaction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A78BFA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Platform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128016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755648"/>
            <a:ext cx="320040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  <a:latin typeface="Segoe UI"/>
              </a:defRPr>
            </a:pPr>
            <a:r>
              <a:t>640+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Source 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45920"/>
            <a:ext cx="3474720" cy="128016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19" y="1755648"/>
            <a:ext cx="3200400" cy="320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9202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Segoe UI"/>
              </a:defRPr>
            </a:pPr>
            <a:r>
              <a:t>150+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423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45920"/>
            <a:ext cx="3474720" cy="128016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66760" y="1755648"/>
            <a:ext cx="3200400" cy="320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202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78BFA"/>
                </a:solidFill>
                <a:latin typeface="Segoe UI"/>
              </a:defRPr>
            </a:pPr>
            <a:r>
              <a:t>300+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423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API Endpoints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00400"/>
            <a:ext cx="3474720" cy="128016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3310128"/>
            <a:ext cx="3200400" cy="3200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BBF24"/>
                </a:solidFill>
                <a:latin typeface="Segoe UI"/>
              </a:defRPr>
            </a:pPr>
            <a:r>
              <a:t>33K+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77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AI Code Lines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200400"/>
            <a:ext cx="3474720" cy="128016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17719" y="3310128"/>
            <a:ext cx="3200400" cy="320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59" y="34747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D4BF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3977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ML Modules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200400"/>
            <a:ext cx="3474720" cy="128016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66760" y="3310128"/>
            <a:ext cx="3200400" cy="32004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4747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472B6"/>
                </a:solidFill>
                <a:latin typeface="Segoe UI"/>
              </a:defRPr>
            </a:pPr>
            <a:r>
              <a:t>25+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977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Algorithms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754880"/>
            <a:ext cx="3474720" cy="128016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68680" y="4864608"/>
            <a:ext cx="3200400" cy="320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2D3EE"/>
                </a:solidFill>
                <a:latin typeface="Segoe UI"/>
              </a:defRPr>
            </a:pPr>
            <a:r>
              <a:t>146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532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Frontend Pages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59" y="4754880"/>
            <a:ext cx="3474720" cy="128016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17719" y="4864608"/>
            <a:ext cx="3200400" cy="32004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59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ACC15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59" y="5532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DB Models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4754880"/>
            <a:ext cx="3474720" cy="128016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66760" y="4864608"/>
            <a:ext cx="3200400" cy="3200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87171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5532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External API</a:t>
            </a:r>
            <a:br/>
            <a:r>
              <a:t>Dependencies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943600"/>
            <a:ext cx="10698480" cy="6400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989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2E8F0"/>
                </a:solidFill>
                <a:latin typeface="Segoe UI"/>
              </a:defRPr>
            </a:pPr>
            <a:r>
              <a:t>The most comprehensive AI-powered financial management platform — 100% local, Indian market focused, enterprise-ready.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A78BFA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914400"/>
            <a:ext cx="2743200" cy="2743200"/>
          </a:xfrm>
          <a:prstGeom prst="ellipse">
            <a:avLst/>
          </a:prstGeom>
          <a:solidFill>
            <a:srgbClr val="1016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657600"/>
            <a:ext cx="3200400" cy="3200400"/>
          </a:xfrm>
          <a:prstGeom prst="ellipse">
            <a:avLst/>
          </a:prstGeom>
          <a:solidFill>
            <a:srgbClr val="12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4572000"/>
            <a:ext cx="2286000" cy="2286000"/>
          </a:xfrm>
          <a:prstGeom prst="ellipse">
            <a:avLst/>
          </a:prstGeom>
          <a:solidFill>
            <a:srgbClr val="0E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3017520"/>
            <a:ext cx="3017520" cy="4572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A78BFA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Segoe UI"/>
              </a:defRPr>
            </a:pPr>
            <a:r>
              <a:t>FinancialAnalyzer v2.0.0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8BDF8"/>
                </a:solidFill>
                <a:latin typeface="Segoe UI"/>
              </a:defRPr>
            </a:pPr>
            <a:r>
              <a:t>by Circuvent Technologies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4754880"/>
            <a:ext cx="5760720" cy="10972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48463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Enterprise Financial Management  •  100% Local AI  •  Indian Market 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2120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support@circuvent.com  •  www.circuvent.com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53212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Questions &amp; Demo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Segoe UI"/>
              </a:defRPr>
            </a:pPr>
            <a:r>
              <a:t>© 2026 Circuvent Technologies.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